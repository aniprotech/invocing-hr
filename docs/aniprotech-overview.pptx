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Invoiced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9.1999999999999993</c:v>
                </c:pt>
                <c:pt idx="1">
                  <c:v>11.4</c:v>
                </c:pt>
                <c:pt idx="2">
                  <c:v>8.6999999999999993</c:v>
                </c:pt>
                <c:pt idx="3">
                  <c:v>12.1</c:v>
                </c:pt>
                <c:pt idx="4">
                  <c:v>10.5</c:v>
                </c:pt>
                <c:pt idx="5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D0-4B55-98FD-2BD2313C56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Collected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8.1</c:v>
                </c:pt>
                <c:pt idx="1">
                  <c:v>9.9</c:v>
                </c:pt>
                <c:pt idx="2">
                  <c:v>8.6999999999999993</c:v>
                </c:pt>
                <c:pt idx="3">
                  <c:v>10.199999999999999</c:v>
                </c:pt>
                <c:pt idx="4">
                  <c:v>9.8000000000000007</c:v>
                </c:pt>
                <c:pt idx="5">
                  <c:v>10.4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D0-4B55-98FD-2BD2313C56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7A6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6324A"/>
              </a:solidFill>
              <a:prstDash val="solid"/>
              <a:round/>
            </a:ln>
          </c:spPr>
        </c:majorGridlines>
        <c:numFmt formatCode="\£#,##0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7A6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7A6B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Outstanding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\£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6EDF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Not due</c:v>
                </c:pt>
                <c:pt idx="1">
                  <c:v>1-30</c:v>
                </c:pt>
                <c:pt idx="2">
                  <c:v>31-60</c:v>
                </c:pt>
                <c:pt idx="3">
                  <c:v>61-90</c:v>
                </c:pt>
                <c:pt idx="4">
                  <c:v>90+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1250</c:v>
                </c:pt>
                <c:pt idx="1">
                  <c:v>2400</c:v>
                </c:pt>
                <c:pt idx="2">
                  <c:v>980</c:v>
                </c:pt>
                <c:pt idx="3">
                  <c:v>0</c:v>
                </c:pt>
                <c:pt idx="4">
                  <c:v>1100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8C-4FA5-9E62-ED516DDFA7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7A6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2632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705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One product, one login, four surfaces: the business app (Sales, Money, People, Hiring, Settings), the employee portal, the public invoice page, and the operator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9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3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5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5.png"/><Relationship Id="rId5" Type="http://schemas.openxmlformats.org/officeDocument/2006/relationships/image" Target="../media/image6.png"/><Relationship Id="rId10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4.png"/><Relationship Id="rId1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7.png"/><Relationship Id="rId7" Type="http://schemas.openxmlformats.org/officeDocument/2006/relationships/image" Target="../media/image12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2.png"/><Relationship Id="rId5" Type="http://schemas.openxmlformats.org/officeDocument/2006/relationships/image" Target="../media/image48.png"/><Relationship Id="rId10" Type="http://schemas.openxmlformats.org/officeDocument/2006/relationships/image" Target="../media/image51.png"/><Relationship Id="rId4" Type="http://schemas.openxmlformats.org/officeDocument/2006/relationships/image" Target="../media/image16.png"/><Relationship Id="rId9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54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645920"/>
            <a:ext cx="6400800" cy="6400800"/>
          </a:xfrm>
          <a:prstGeom prst="ellipse">
            <a:avLst/>
          </a:prstGeom>
          <a:solidFill>
            <a:srgbClr val="0284C7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3108960"/>
            <a:ext cx="4572000" cy="45720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aniprotech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88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and the people, in one login.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661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and every tab - the invoicing side, the HR side, the employee portal and the operator console - and, at the end, how it compares with talenthr.io.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www.aniprotech.com  ·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four surfaces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a different person's day. They share one database and one login.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215249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app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Owners, finance, HR and managers. Invoices, quotes, money in and out, everybody who works here, hiring, settings.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349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app.html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64992" y="173736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39312" y="2011680"/>
            <a:ext cx="640080" cy="640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0130" y="215249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39312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portal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639312" y="33375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of staff. Clock in, book leave, read payslips, see goals and reviews, do training, thank a colleague.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639312" y="5349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employee-dashboard.html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81344" y="173736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55664" y="2011680"/>
            <a:ext cx="640080" cy="640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6482" y="215249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55664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page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55664" y="33375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an invoice was sent to. One link: see it, print it, pay it by card, UPI, PayPal or bank debit.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455664" y="5349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invoice.html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997696" y="173736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272016" y="2011680"/>
            <a:ext cx="640080" cy="640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2834" y="2152498"/>
            <a:ext cx="358445" cy="35844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72016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console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272016" y="33375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runs the platform. Businesses, wallets, settlements, platform email, adoption, migrations, the scheduler.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9272016" y="5349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superadmin.html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business app is laid out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places in the top bar. People opens a four-column menu of its own.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737360" cy="3931920"/>
          </a:xfrm>
          <a:prstGeom prst="roundRect">
            <a:avLst>
              <a:gd name="adj" fmla="val 6316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1463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in, month by month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waiting on you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everything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14016" y="1737360"/>
            <a:ext cx="1737360" cy="3931920"/>
          </a:xfrm>
          <a:prstGeom prst="roundRect">
            <a:avLst>
              <a:gd name="adj" fmla="val 6316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96896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596896" y="2468880"/>
            <a:ext cx="1463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9392" y="1737360"/>
            <a:ext cx="1737360" cy="3931920"/>
          </a:xfrm>
          <a:prstGeom prst="roundRect">
            <a:avLst>
              <a:gd name="adj" fmla="val 6316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62272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62272" y="2468880"/>
            <a:ext cx="1463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44768" y="1737360"/>
            <a:ext cx="1737360" cy="3931920"/>
          </a:xfrm>
          <a:prstGeom prst="roundRect">
            <a:avLst>
              <a:gd name="adj" fmla="val 6316"/>
            </a:avLst>
          </a:prstGeom>
          <a:solidFill>
            <a:srgbClr val="1A2438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27648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2468880"/>
            <a:ext cx="1463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people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pay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things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portal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10144" y="1737360"/>
            <a:ext cx="1737360" cy="3931920"/>
          </a:xfrm>
          <a:prstGeom prst="roundRect">
            <a:avLst>
              <a:gd name="adj" fmla="val 6316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93024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193024" y="2468880"/>
            <a:ext cx="1463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page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75520" y="1737360"/>
            <a:ext cx="1737360" cy="3931920"/>
          </a:xfrm>
          <a:prstGeom prst="roundRect">
            <a:avLst>
              <a:gd name="adj" fmla="val 6316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0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0" y="2468880"/>
            <a:ext cx="1463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· Email · Company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· Team · Tax rates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fields · Integrations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 · Legal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menu is the HR product: twenty pages in four columns. The next slides walk through each column.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screen answers the two questions an owner has: is money coming in, and what needs me?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in, month by month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233172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492240" y="181965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777" y="1912193"/>
            <a:ext cx="235549" cy="2355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59168" y="1764792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you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059168" y="2039112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to decide, requests, bank changes, documents, unpaid payslips, overdue training, reviews.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92240" y="31455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4777" y="3238073"/>
            <a:ext cx="235549" cy="23554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59168" y="3090672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 box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7059168" y="3364992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quotes, customers, people, skills, policies, departments, pages - by name, number or email.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92240" y="447141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4777" y="4563953"/>
            <a:ext cx="235549" cy="23554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59168" y="4416552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morning email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7059168" y="4690872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list, sent to HR at seven, only when there is something in it.</a:t>
            </a:r>
            <a:endParaRPr lang="en-US" sz="115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turns work into an invoice, and the invoice into a document the customer can act 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1912193"/>
            <a:ext cx="235549" cy="2355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764792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2039112"/>
            <a:ext cx="5010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from / billed to with company, address and tax id. PDF with your logo and theme. Sent by email, WhatsApp or link, with open tracking, part payments, refunds.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73405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77" y="2826593"/>
            <a:ext cx="235549" cy="2355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15568" y="2679192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15568" y="2953512"/>
            <a:ext cx="5010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customer details, title, summary and terms. Accepted, declined, expired. One click turns an accepted quote into an invoice.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64845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3740993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15568" y="3593592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invoices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15568" y="3867912"/>
            <a:ext cx="5010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 and a rhythm. Raised on schedule, with the customer's billing details as they stand that day.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56285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77" y="4655393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15568" y="4507992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115568" y="4782312"/>
            <a:ext cx="5010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by stage, so the month ahead is visible before it is invoiced.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47725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177" y="5569793"/>
            <a:ext cx="235549" cy="23554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15568" y="5422392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1115568" y="5696712"/>
            <a:ext cx="5010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Company, billing address, tax id, contact. Their invoices, quotes, payments - and a statement of account with a running balance, sendable in one click.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583680" y="1737360"/>
            <a:ext cx="5029200" cy="4114800"/>
          </a:xfrm>
          <a:prstGeom prst="roundRect">
            <a:avLst>
              <a:gd name="adj" fmla="val 2667"/>
            </a:avLst>
          </a:prstGeom>
          <a:solidFill>
            <a:srgbClr val="1A2438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8580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customer's page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858000" y="237744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link, no login - see, print or save the invoice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by card (Stripe), UPI/cards/netbanking (Razorpay), PayPal, or bank debit (GoCardless)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itself paid only against what the gateway confirms - a claim from the browser is never enough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but closed the tab? A sweep finds it within fifteen minutes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reminders go out on a schedule you set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paid, and knowing where it landed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in is only half of it. The other half is matching it to a bank line and giving it back when you have 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212232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011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gateways, your own keys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42316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Razorpay, Stripe, PayPal and GoCardless. Money lands in the business's own account, never the platform's. A "Check keys" button asks the provider before a customer finds out.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201168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162" y="212232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2011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lands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132320" y="242316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accounts - the bank, the cash box - and every receipt lands in one. Online payments file themselves under the gateway that took them. Totals per account, per month.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882" y="417972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069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48056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or whole, through the gateway that took the payment, or recorded when paid back by hand. The invoice moves back; the customer is emailed; the receipt stays on record.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84048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406908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7162" y="417972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32320" y="4069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told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132320" y="448056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per online payment, an invoice.paid webhook, and a notice when a customer could not pay because the keys were wrong.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coming in, reports going out, and the wallet that pays for the platform.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1912193"/>
            <a:ext cx="235549" cy="2355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764792"/>
            <a:ext cx="619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2039112"/>
            <a:ext cx="6199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suppliers are owed, when, and marked paid when it goes.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77" y="2808305"/>
            <a:ext cx="235549" cy="2355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15568" y="2660904"/>
            <a:ext cx="619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15568" y="2935224"/>
            <a:ext cx="6199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month, who owes, who has paid most, where the money is sitting - one currency at a time, never added across.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3704417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15568" y="3557016"/>
            <a:ext cx="619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15568" y="3831336"/>
            <a:ext cx="6199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loss, balance sheet, cash summary, and ageing by customer: buckets by how late, as of any date, with DSO and CSVs.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507992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77" y="4600529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15568" y="4453128"/>
            <a:ext cx="619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115568" y="4727448"/>
            <a:ext cx="6199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customer: balance brought forward, each invoice, receipt and refund, balance carried forward. On screen, CSV, print, email - or monthly to everyone with a balance.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404104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177" y="5496641"/>
            <a:ext cx="235549" cy="23554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15568" y="5349240"/>
            <a:ext cx="619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1115568" y="5623560"/>
            <a:ext cx="6199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 credit that pays for what you send. Top up by card, UPI, PayPal or bank; auto top-up when it runs low.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7772400" y="1737360"/>
            <a:ext cx="3840480" cy="4114800"/>
          </a:xfrm>
          <a:prstGeom prst="roundRect">
            <a:avLst>
              <a:gd name="adj" fmla="val 2857"/>
            </a:avLst>
          </a:prstGeom>
          <a:solidFill>
            <a:srgbClr val="1A2438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804672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Ageing by customer</a:t>
            </a:r>
            <a:endParaRPr lang="en-US" sz="14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7955280" y="2286000"/>
          <a:ext cx="35661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7" name="Text 19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 ›  Your people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column of the People menu: who works here, and the everyday of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1866473"/>
            <a:ext cx="235549" cy="2355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7190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dashboard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19933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in, out, on leave, unaccounted for. Every queue with somebody waiting. Who is starting, whose probation ends, whose birthday it is.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09360" y="17739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897" y="1866473"/>
            <a:ext cx="235549" cy="2355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76288" y="17190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876288" y="19933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profile with everything: job history, pay band, certifications, skills, training, one-to-ones, recognition, custom fields, documents, leave, attendance. CSV in and out.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9981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3192353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15568" y="304495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15568" y="331927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reports to whom, drawn from the records, with departments and heads.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09360" y="309981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1897" y="3192353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76288" y="304495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6876288" y="331927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with a date: leave, holidays, interviews, birthdays, anniversaries, one-to-ones, reviews due.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42569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177" y="4518233"/>
            <a:ext cx="235549" cy="23554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15568" y="437083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1115568" y="464515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and pictures for everyone, pinned notices, likes and comments.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309360" y="442569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1897" y="4518233"/>
            <a:ext cx="235549" cy="235549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876288" y="437083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6876288" y="464515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Shout-outs between colleagues, tagged with the company's own values. Who is thanked most, who never is, which values get named.</a:t>
            </a:r>
            <a:endParaRPr lang="en-US" sz="115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 ›  Time and pay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column: the hours, the days off, and the money that follows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1866473"/>
            <a:ext cx="235549" cy="2355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7190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19933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leave year that starts when you say; days up front or accrued monthly; pro-rata joiners; carry-over with a cap that lapses. Requests show who else in the department is already off. Managers approve their own reports.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09360" y="17739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897" y="1866473"/>
            <a:ext cx="235549" cy="2355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76288" y="17190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shifts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876288" y="19933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 from the portal, shifts and rotas, overtime, corrections for a manager to approve, timesheets, working days per business.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1455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3238073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15568" y="30906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bands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15568" y="33649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band per level. Everybody measured against it - compa-ratio, below or above band, pay not moved in a year - and a pay review that applies many changes on one date.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09360" y="31455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1897" y="3238073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76288" y="30906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6876288" y="33649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Payslips per period, marked paid, sent to the portal, tracked when opened. AI flags anomalies before a run goes out.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5171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177" y="4609673"/>
            <a:ext cx="235549" cy="23554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15568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1115568" y="47365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with receipts from the portal, approved by a manager or HR, marked paid.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309360" y="45171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1897" y="4609673"/>
            <a:ext cx="235549" cy="235549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876288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6876288" y="47365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from staff, and bank-detail changes that wait for HR because that is where the wages go.</a:t>
            </a:r>
            <a:endParaRPr lang="en-US" sz="115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 ›  Growth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column: how people get better, and how the business can see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1866473"/>
            <a:ext cx="235549" cy="2355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7190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19933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with progress and due dates, set by the person or their manager, counted on the dashboard when overdue.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09360" y="17739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897" y="1866473"/>
            <a:ext cx="235549" cy="2355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76288" y="17190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876288" y="19933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with a self-assessment, a manager's half and peer feedback; ratings and potential; a nine-box talent grid; the person reads it when it is complete.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1455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3238073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15568" y="30906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15568" y="33649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catalogue with levels 1-4, confirmed by HR. A matrix per department, single points of failure named, and "who can do X" search.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09360" y="31455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1897" y="3238073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76288" y="30906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6876288" y="33649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with expiry and verification, and courses: assigned to a person, a department or everybody, due dates, reminders, renewals, done from the portal.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5171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177" y="4609673"/>
            <a:ext cx="235549" cy="23554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15568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1115568" y="47365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Headcount, turnover, tenure, age bands, leave, goals, moves, hiring, one-to-ones, pay, skills, absence (Bradford), recognition, training - from rows that already exist.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309360" y="45171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1897" y="4609673"/>
            <a:ext cx="235549" cy="235549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876288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One-to-ones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6876288" y="47365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and report, scheduled and held, with shared notes, private notes and actions - and a nudge when a pair has gone quiet.</a:t>
            </a:r>
            <a:endParaRPr lang="en-US" sz="115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 ›  Running things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column: the machinery HR would otherwise run by remembering.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1866473"/>
            <a:ext cx="235549" cy="2355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7190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19933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somebody joins, leaves, passes probation, is promoted or moves department: a checklist of tasks with owners - HR, manager, department head, the person - and due dates.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09360" y="17739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897" y="1866473"/>
            <a:ext cx="235549" cy="2355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76288" y="17190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876288" y="19933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everybody at once - text and ratings - anonymous where it should be, results as they come in.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1455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3238073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15568" y="30906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15568" y="33649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handbook and its kin, versioned, targeted by department, acknowledged per version. Who has read what, and who has not.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09360" y="31455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1897" y="3238073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76288" y="30906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6876288" y="33649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Laptops, phones, keys: who has what, issued and taken back, and the leaver checklist will not close while something is out.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5171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177" y="4609673"/>
            <a:ext cx="235549" cy="23554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15568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hub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1115568" y="47365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Starters and their documents, requested and reviewed; probations with an end date, reminders and a decision.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309360" y="45171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1897" y="4609673"/>
            <a:ext cx="235549" cy="235549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876288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Offboarding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6876288" y="47365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out live from what the product knows: assets out, reports to reassign, approvals pending, portal access - completed only when nothing is left.</a:t>
            </a:r>
            <a:endParaRPr lang="en-US" sz="115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open role to a person with a login.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468880"/>
            <a:ext cx="548640" cy="54864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581" y="25895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377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role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6118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requisition with openings, department and level.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33832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2834640" y="219456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11880" y="2468880"/>
            <a:ext cx="548640" cy="54864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2581" y="258958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17520" y="2377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01752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page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017520" y="36118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page per business listing what is open; candidates apply from it.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937760" y="33832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5120640" y="219456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97880" y="2468880"/>
            <a:ext cx="548640" cy="54864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581" y="258958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303520" y="2377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30352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5303520" y="36118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by stage, notes, and the AI helping with screening questions.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7223760" y="33832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5" name="Shape 20"/>
          <p:cNvSpPr/>
          <p:nvPr/>
        </p:nvSpPr>
        <p:spPr>
          <a:xfrm>
            <a:off x="7406640" y="219456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183880" y="2468880"/>
            <a:ext cx="548640" cy="54864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4581" y="2589581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589520" y="2377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758952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7589520" y="36118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with reminders to interviewers, on the calendar.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9509760" y="33832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2" name="Shape 26"/>
          <p:cNvSpPr/>
          <p:nvPr/>
        </p:nvSpPr>
        <p:spPr>
          <a:xfrm>
            <a:off x="9692640" y="219456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0469880" y="2468880"/>
            <a:ext cx="548640" cy="54864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0581" y="2589581"/>
            <a:ext cx="307238" cy="30723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875520" y="2377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87552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9875520" y="36118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an employee: onboarding workflow fires, documents requested, probation set.</a:t>
            </a:r>
            <a:endParaRPr lang="en-US" sz="1150" dirty="0"/>
          </a:p>
        </p:txBody>
      </p:sp>
      <p:sp>
        <p:nvSpPr>
          <p:cNvPr id="38" name="Text 31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on the calendar and in the morning email, so nothing waits on somebody remembering.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employee portal - eighteen tabs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member of staff sees on their phone. Installable, works offline for the basics, no app store.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603504"/>
          </a:xfrm>
          <a:prstGeom prst="roundRect">
            <a:avLst>
              <a:gd name="adj" fmla="val 18182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6479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74650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in, to-do strip, shout-outs, coming up, approvals for managers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566160" cy="603504"/>
          </a:xfrm>
          <a:prstGeom prst="roundRect">
            <a:avLst>
              <a:gd name="adj" fmla="val 18182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76479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174650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and days, corrections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566160" cy="603504"/>
          </a:xfrm>
          <a:prstGeom prst="roundRect">
            <a:avLst>
              <a:gd name="adj" fmla="val 18182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76479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372600" y="174650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with carry-over, book, who covers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386584"/>
            <a:ext cx="3566160" cy="603504"/>
          </a:xfrm>
          <a:prstGeom prst="roundRect">
            <a:avLst>
              <a:gd name="adj" fmla="val 18182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45973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24414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against targets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2386584"/>
            <a:ext cx="3566160" cy="603504"/>
          </a:xfrm>
          <a:prstGeom prst="roundRect">
            <a:avLst>
              <a:gd name="adj" fmla="val 18182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245973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24414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notes, actions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2386584"/>
            <a:ext cx="3566160" cy="603504"/>
          </a:xfrm>
          <a:prstGeom prst="roundRect">
            <a:avLst>
              <a:gd name="adj" fmla="val 18182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245973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372600" y="24414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self-assessment, read the result, peer feedback asked of you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081528"/>
            <a:ext cx="3566160" cy="603504"/>
          </a:xfrm>
          <a:prstGeom prst="roundRect">
            <a:avLst>
              <a:gd name="adj" fmla="val 18182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1546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874520" y="31363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period, downloadable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0" y="3081528"/>
            <a:ext cx="3566160" cy="603504"/>
          </a:xfrm>
          <a:prstGeom prst="roundRect">
            <a:avLst>
              <a:gd name="adj" fmla="val 18182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31546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31363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policies to read, documents HR asked for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0" y="3081528"/>
            <a:ext cx="3566160" cy="603504"/>
          </a:xfrm>
          <a:prstGeom prst="roundRect">
            <a:avLst>
              <a:gd name="adj" fmla="val 18182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31546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372600" y="31363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starter checklist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776472"/>
            <a:ext cx="3566160" cy="603504"/>
          </a:xfrm>
          <a:prstGeom prst="roundRect">
            <a:avLst>
              <a:gd name="adj" fmla="val 18182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384962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874520" y="383133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see results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97680" y="3776472"/>
            <a:ext cx="3566160" cy="603504"/>
          </a:xfrm>
          <a:prstGeom prst="roundRect">
            <a:avLst>
              <a:gd name="adj" fmla="val 18182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80560" y="384962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623560" y="383133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holidays, leave, interviews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46720" y="3776472"/>
            <a:ext cx="3566160" cy="603504"/>
          </a:xfrm>
          <a:prstGeom prst="roundRect">
            <a:avLst>
              <a:gd name="adj" fmla="val 18182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29600" y="384962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372600" y="383133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with a receipt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471416"/>
            <a:ext cx="3566160" cy="603504"/>
          </a:xfrm>
          <a:prstGeom prst="roundRect">
            <a:avLst>
              <a:gd name="adj" fmla="val 18182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1520" y="45445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1874520" y="4526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likes, comments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97680" y="4471416"/>
            <a:ext cx="3566160" cy="603504"/>
          </a:xfrm>
          <a:prstGeom prst="roundRect">
            <a:avLst>
              <a:gd name="adj" fmla="val 18182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480560" y="45445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5623560" y="4526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from HR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46720" y="4471416"/>
            <a:ext cx="3566160" cy="603504"/>
          </a:xfrm>
          <a:prstGeom prst="roundRect">
            <a:avLst>
              <a:gd name="adj" fmla="val 18182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29600" y="45445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9372600" y="4526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about your own data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8640" y="5166360"/>
            <a:ext cx="3566160" cy="603504"/>
          </a:xfrm>
          <a:prstGeom prst="roundRect">
            <a:avLst>
              <a:gd name="adj" fmla="val 18182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31520" y="523951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1874520" y="522122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in, and a manager's view of their reports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297680" y="5166360"/>
            <a:ext cx="3566160" cy="603504"/>
          </a:xfrm>
          <a:prstGeom prst="roundRect">
            <a:avLst>
              <a:gd name="adj" fmla="val 18182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480560" y="523951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5623560" y="522122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HR, change your details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046720" y="5166360"/>
            <a:ext cx="3566160" cy="603504"/>
          </a:xfrm>
          <a:prstGeom prst="roundRect">
            <a:avLst>
              <a:gd name="adj" fmla="val 18182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229600" y="523951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9372600" y="522122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certifications, history, pay band, your own data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runs without anybody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scheduler ticks every fifteen minutes. Each job claims its period once, so two servers never send twice.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384048" cy="38404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11" y="2004731"/>
            <a:ext cx="215067" cy="215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9019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invoices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957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on their day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64992" y="173736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47872" y="1920240"/>
            <a:ext cx="384048" cy="38404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363" y="2004731"/>
            <a:ext cx="215067" cy="215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50792" y="19019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reminders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547872" y="23957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schedule you set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81344" y="173736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64224" y="1920240"/>
            <a:ext cx="384048" cy="38404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715" y="2004731"/>
            <a:ext cx="215067" cy="215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67144" y="19019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sweep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364224" y="23957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payments nobody confirmed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97696" y="173736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80576" y="1920240"/>
            <a:ext cx="384048" cy="38404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5067" y="2004731"/>
            <a:ext cx="215067" cy="215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683496" y="19019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statements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9180576" y="23957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everyone with a balance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10896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31520" y="3291840"/>
            <a:ext cx="384048" cy="38404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011" y="3376331"/>
            <a:ext cx="215067" cy="21506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34440" y="32735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Autopay &amp; top-ups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731520" y="3767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charged, wallet refilled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64992" y="310896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547872" y="3291840"/>
            <a:ext cx="384048" cy="38404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2363" y="3376331"/>
            <a:ext cx="215067" cy="21506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050792" y="32735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Probation reminders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3547872" y="3767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date, and after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181344" y="310896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364224" y="3291840"/>
            <a:ext cx="384048" cy="38404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715" y="3376331"/>
            <a:ext cx="215067" cy="21506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867144" y="32735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expiry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6364224" y="3767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warned before it lapses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997696" y="310896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180576" y="3291840"/>
            <a:ext cx="384048" cy="38404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65067" y="3376331"/>
            <a:ext cx="215067" cy="215067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683496" y="32735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reminders</a:t>
            </a:r>
            <a:endParaRPr lang="en-US" sz="1250" dirty="0"/>
          </a:p>
        </p:txBody>
      </p:sp>
      <p:sp>
        <p:nvSpPr>
          <p:cNvPr id="43" name="Text 33"/>
          <p:cNvSpPr txBox="1"/>
          <p:nvPr/>
        </p:nvSpPr>
        <p:spPr>
          <a:xfrm>
            <a:off x="9180576" y="3767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before, on the day, when late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548640" y="448056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731520" y="4663440"/>
            <a:ext cx="384048" cy="38404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6011" y="4747931"/>
            <a:ext cx="215067" cy="215067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1234440" y="46451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&amp; calendar</a:t>
            </a:r>
            <a:endParaRPr lang="en-US" sz="1250" dirty="0"/>
          </a:p>
        </p:txBody>
      </p:sp>
      <p:sp>
        <p:nvSpPr>
          <p:cNvPr id="48" name="Text 37"/>
          <p:cNvSpPr txBox="1"/>
          <p:nvPr/>
        </p:nvSpPr>
        <p:spPr>
          <a:xfrm>
            <a:off x="731520" y="51389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to the people involved</a:t>
            </a:r>
            <a:endParaRPr lang="en-US" sz="1050" dirty="0"/>
          </a:p>
        </p:txBody>
      </p:sp>
      <p:sp>
        <p:nvSpPr>
          <p:cNvPr id="49" name="Shape 38"/>
          <p:cNvSpPr/>
          <p:nvPr/>
        </p:nvSpPr>
        <p:spPr>
          <a:xfrm>
            <a:off x="3364992" y="448056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3547872" y="4663440"/>
            <a:ext cx="384048" cy="38404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32363" y="4747931"/>
            <a:ext cx="215067" cy="215067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4050792" y="46451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digests</a:t>
            </a:r>
            <a:endParaRPr lang="en-US" sz="1250" dirty="0"/>
          </a:p>
        </p:txBody>
      </p:sp>
      <p:sp>
        <p:nvSpPr>
          <p:cNvPr id="53" name="Text 41"/>
          <p:cNvSpPr txBox="1"/>
          <p:nvPr/>
        </p:nvSpPr>
        <p:spPr>
          <a:xfrm>
            <a:off x="3547872" y="51389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HR, and to each person, only if there is something</a:t>
            </a:r>
            <a:endParaRPr lang="en-US" sz="1050" dirty="0"/>
          </a:p>
        </p:txBody>
      </p:sp>
      <p:sp>
        <p:nvSpPr>
          <p:cNvPr id="54" name="Shape 42"/>
          <p:cNvSpPr/>
          <p:nvPr/>
        </p:nvSpPr>
        <p:spPr>
          <a:xfrm>
            <a:off x="6181344" y="448056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55" name="Shape 43"/>
          <p:cNvSpPr/>
          <p:nvPr/>
        </p:nvSpPr>
        <p:spPr>
          <a:xfrm>
            <a:off x="6364224" y="4663440"/>
            <a:ext cx="384048" cy="38404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8715" y="4747931"/>
            <a:ext cx="215067" cy="215067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6867144" y="46451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deliveries</a:t>
            </a:r>
            <a:endParaRPr lang="en-US" sz="1250" dirty="0"/>
          </a:p>
        </p:txBody>
      </p:sp>
      <p:sp>
        <p:nvSpPr>
          <p:cNvPr id="58" name="Text 45"/>
          <p:cNvSpPr txBox="1"/>
          <p:nvPr/>
        </p:nvSpPr>
        <p:spPr>
          <a:xfrm>
            <a:off x="6364224" y="51389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retried with backoff</a:t>
            </a:r>
            <a:endParaRPr lang="en-US" sz="1050" dirty="0"/>
          </a:p>
        </p:txBody>
      </p:sp>
      <p:sp>
        <p:nvSpPr>
          <p:cNvPr id="59" name="Shape 46"/>
          <p:cNvSpPr/>
          <p:nvPr/>
        </p:nvSpPr>
        <p:spPr>
          <a:xfrm>
            <a:off x="8997696" y="448056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60" name="Shape 47"/>
          <p:cNvSpPr/>
          <p:nvPr/>
        </p:nvSpPr>
        <p:spPr>
          <a:xfrm>
            <a:off x="9180576" y="4663440"/>
            <a:ext cx="384048" cy="38404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6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65067" y="4747931"/>
            <a:ext cx="215067" cy="215067"/>
          </a:xfrm>
          <a:prstGeom prst="rect">
            <a:avLst/>
          </a:prstGeom>
        </p:spPr>
      </p:pic>
      <p:sp>
        <p:nvSpPr>
          <p:cNvPr id="62" name="Text 48"/>
          <p:cNvSpPr txBox="1"/>
          <p:nvPr/>
        </p:nvSpPr>
        <p:spPr>
          <a:xfrm>
            <a:off x="9683496" y="46451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shifts</a:t>
            </a:r>
            <a:endParaRPr lang="en-US" sz="1250" dirty="0"/>
          </a:p>
        </p:txBody>
      </p:sp>
      <p:sp>
        <p:nvSpPr>
          <p:cNvPr id="63" name="Text 49"/>
          <p:cNvSpPr txBox="1"/>
          <p:nvPr/>
        </p:nvSpPr>
        <p:spPr>
          <a:xfrm>
            <a:off x="9180576" y="51389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at the end of the day</a:t>
            </a:r>
            <a:endParaRPr lang="en-US" sz="1050" dirty="0"/>
          </a:p>
        </p:txBody>
      </p:sp>
      <p:sp>
        <p:nvSpPr>
          <p:cNvPr id="64" name="Text 5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65" name="Text 5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 and integrations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sections, each a page of its own.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1866473"/>
            <a:ext cx="235549" cy="2355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7190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19933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colours, invoice themes, document titles.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09360" y="17739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897" y="1866473"/>
            <a:ext cx="235549" cy="2355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76288" y="17190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876288" y="19933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through your own Gmail or mail server, from your own address. A test button that tells the truth.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264261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2735153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15568" y="258775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15568" y="286207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address, tax id, currency, working days.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09360" y="264261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1897" y="2735153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76288" y="258775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6876288" y="286207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accounts; Razorpay, Stripe and PayPal keys with a Check-keys button; payment and statement emails.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351129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177" y="3603833"/>
            <a:ext cx="235549" cy="23554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15568" y="345643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1115568" y="373075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else can sign in to the business app.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309360" y="351129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1897" y="3603833"/>
            <a:ext cx="235549" cy="235549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876288" y="345643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rates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6876288" y="373075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VAT, GST, whatever applies, per line.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548640" y="437997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177" y="4472513"/>
            <a:ext cx="235549" cy="235549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115568" y="43251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fields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1115568" y="459943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fields on every profile - text, number, date, choice, yes/no - in the CSV and, if you say so, in the portal.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6309360" y="437997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1897" y="4472513"/>
            <a:ext cx="235549" cy="235549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876288" y="43251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400" dirty="0"/>
          </a:p>
        </p:txBody>
      </p:sp>
      <p:sp>
        <p:nvSpPr>
          <p:cNvPr id="35" name="Text 25"/>
          <p:cNvSpPr txBox="1"/>
          <p:nvPr/>
        </p:nvSpPr>
        <p:spPr>
          <a:xfrm>
            <a:off x="6876288" y="459943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with scopes for a versioned read-mostly API; webhooks with a secret, signed deliveries and a log; eleven events from employee.created to invoice.refunded.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548640" y="524865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177" y="5341193"/>
            <a:ext cx="235549" cy="235549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115568" y="51937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400" dirty="0"/>
          </a:p>
        </p:txBody>
      </p:sp>
      <p:sp>
        <p:nvSpPr>
          <p:cNvPr id="39" name="Text 28"/>
          <p:cNvSpPr txBox="1"/>
          <p:nvPr/>
        </p:nvSpPr>
        <p:spPr>
          <a:xfrm>
            <a:off x="1115568" y="546811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change, by whom, from where.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6309360" y="524865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1897" y="5341193"/>
            <a:ext cx="235549" cy="235549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6876288" y="51937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authorisation</a:t>
            </a:r>
            <a:endParaRPr lang="en-US" sz="1400" dirty="0"/>
          </a:p>
        </p:txBody>
      </p:sp>
      <p:sp>
        <p:nvSpPr>
          <p:cNvPr id="43" name="Text 31"/>
          <p:cNvSpPr txBox="1"/>
          <p:nvPr/>
        </p:nvSpPr>
        <p:spPr>
          <a:xfrm>
            <a:off x="6876288" y="546811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Terms, privacy, who signed what.</a:t>
            </a:r>
            <a:endParaRPr lang="en-US" sz="1150" dirty="0"/>
          </a:p>
        </p:txBody>
      </p:sp>
      <p:sp>
        <p:nvSpPr>
          <p:cNvPr id="44" name="Text 3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45" name="Text 3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operator console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whoever runs aniprotech itself. Nothing here is visible to a business.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1866473"/>
            <a:ext cx="235549" cy="2355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7190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19933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tenant, active or not, modules, sign-ins, a support-mode view of their app.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09360" y="177393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897" y="1866473"/>
            <a:ext cx="235549" cy="2355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76288" y="17190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 &amp; pricing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876288" y="199339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Balances, adjustments with a reason, per-action prices and free allowances.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9981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3192353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15568" y="304495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mode &amp; settlements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15568" y="331927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(each business collects into its own account) or platform (money owed on to the business, settled and marked paid out).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09360" y="309981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1897" y="3192353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76288" y="304495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email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6876288" y="331927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Google account or SMTP server the platform sends from, with a test.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42569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177" y="4518233"/>
            <a:ext cx="235549" cy="23554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15568" y="437083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adoption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1115568" y="464515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business: how many people, which of the HR features have been touched - the ones to show around.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309360" y="442569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1897" y="4518233"/>
            <a:ext cx="235549" cy="235549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876288" y="437083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&amp; scheduler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6876288" y="464515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schema step that failed, and every job run with what it did.</a:t>
            </a:r>
            <a:endParaRPr lang="en-US" sz="115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trusted with money and people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ships with tests that would fail if the guard were removed.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1A2438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2,768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64992" y="17373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1A2438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7872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1,779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checks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1344" y="17373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1A2438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64224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160+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tests - every one caught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97696" y="17373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1A2438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0576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rows between businesses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9417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3786713"/>
            <a:ext cx="235549" cy="235549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15568" y="36393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belongs to one business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15568" y="391363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scoped by tenant. A test per feature proves another business's data is 404, not empty.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309360" y="369417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897" y="3786713"/>
            <a:ext cx="235549" cy="235549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876288" y="36393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are verified, never trusted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876288" y="391363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confirmations are re-fetched with the secret, bound to the invoice and amount they were opened for.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48640" y="488289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4975433"/>
            <a:ext cx="235549" cy="235549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115568" y="482803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fails silently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1115568" y="510235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emails, failed payments, failed migrations all reach a screen or an inbox. The health endpoint says so too.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309360" y="4882896"/>
            <a:ext cx="420624" cy="42062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1897" y="4975433"/>
            <a:ext cx="235549" cy="235549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876288" y="482803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trail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6876288" y="510235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changed what, refunded what, checked which keys, sent which statement.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talenthr.io at a glance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TalentHR (by Epignosis, the TalentLMS company) advertises on talenthr.io, September 2026.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4114800"/>
          </a:xfrm>
          <a:prstGeom prst="roundRect">
            <a:avLst>
              <a:gd name="adj" fmla="val 2667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&amp; directory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off tracking with accrual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tracking (with geolocation)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/ applicant tracking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offboarding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360° reviews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setting with milestones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analytics &amp; reports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22860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management &amp; e-signatures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surveys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Voice (whistleblowing)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HR assistant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Integrations, custom fields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0" y="1737360"/>
            <a:ext cx="3840480" cy="4114800"/>
          </a:xfrm>
          <a:prstGeom prst="roundRect">
            <a:avLst>
              <a:gd name="adj" fmla="val 2857"/>
            </a:avLst>
          </a:prstGeom>
          <a:solidFill>
            <a:srgbClr val="1A2438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228600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Free: up to 10 users, core only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Essential: $2 per user / month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$4 per user / month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paid plans: minimum 15 users, in steps of 5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goals, time tracking, surveys, signing and custom fields are paid-only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invoicing, payments, payroll, expenses or recognition on the site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talenthr.io/features and talenthr.io/pricing, fetched 17 Sep 2026. Verify before quoting to a customer.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 by side  ·  the HR core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two products cover the same ground.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44805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talenthr.io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aniprotech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directory &amp; profiles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aniprotech profiles also carry pay band, skills, certifications, training, job history, 1:1s, recognition.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 chart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off with accrual &amp; carry-over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aniprotech: leave year start, monthly or upfront, pro-rata, capped carry-over that lapses, who covers.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tracking / attendance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TalentHR has geolocation on Premium; aniprotech has shifts, rotas, overtime, corrections and timesheets.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Hiring / 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TalentHR free: 2 postings, Premium scores candidates. aniprotech: public jobs page, pipeline, interviews.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&amp; offboarding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aniprotech offboarding is worked out live: assets, reports, approvals, access - cannot close with loose ends.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reviews &amp; goals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360°. aniprotech adds potential and a nine-box grid. Paid-only on TalentHR.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analytics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aniprotech: 14 blocks incl. absence (Bradford), pay, skills, recognition, training.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automation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TalentHR free: 10 workflows. aniprotech: five triggers, task owners by role, unlimited.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&amp; policies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store and request documents. aniprotech versions policies and records who acknowledged which.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E-signatures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TalentHR Premium. aniprotech records acknowledgements, not signatures.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Assets, surveys, custom fields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Paid-only on TalentHR; included in aniprotech.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Whistleblowing channel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TalentHR "Safe Voice". aniprotech has staff requests, not an anonymous channel.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assistant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TalentHR answers HR questions; aniprotech answers about your own data, checks payroll, drafts emails.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TalentHR: native apps. aniprotech: installable web app (PWA), no store listing.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9552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has it   </a:t>
            </a: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partly   </a:t>
            </a:r>
            <a:r>
              <a:rPr lang="en-US" sz="10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not offered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2067" y="365760"/>
            <a:ext cx="9271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 by side  ·  beyond HR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only one of them goes.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142175"/>
              </p:ext>
            </p:extLst>
          </p:nvPr>
        </p:nvGraphicFramePr>
        <p:xfrm>
          <a:off x="548640" y="1600200"/>
          <a:ext cx="11091672" cy="44805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talenthr.io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aniprotech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Invoicing, quotes, recurring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TalentHR is HR only. aniprotech: invoices, PDF, tracking, reminders, quotes that convert, recurring templates.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payments from customers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Stripe, Razorpay (UPI), PayPal, GoCardless - the business's own accounts, verified server-side.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Refunds, receipts, "where the money lands"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Refunds through the gateway; accounts with per-month totals; receipt emails.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Ageing report &amp; customer statements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Buckets per customer as of any date, DSO; statements on screen, CSV, email, monthly.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&amp; payslips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TalentHR relies on integrations. aniprotech runs payroll, sends payslips to the portal, flags anomalies.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bands &amp; pay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Bands per level, compa-ratio, batch pay changes with an effective date.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 claims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the portal with receipts, approved and paid.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 (shout-outs)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thanks tagged with company values; who is thanked and who never is.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matrix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Levels, verification, single points of failure, "who can do X".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courses &amp; certifications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TalentHR syncs with TalentLMS, a separate product. aniprotech: courses, reminders, renewals, certifications - built in.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Scheduled, shared and private notes, actions, "gone quiet" nudges.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feed &amp; celebrations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TalentHR has announcements. aniprotech: posts, likes, comments, birthdays, anniversaries.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API &amp; webhooks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aniprotech: scoped keys, signed deliveries, eleven events from employee.created to invoice.refunded.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 digests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HR and to each person, only when something is waiting.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console &amp; wallet billing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7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 by design: businesses, wallets, settlements, adoption.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9552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has it   </a:t>
            </a: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partly   </a:t>
            </a:r>
            <a:r>
              <a:rPr lang="en-US" sz="10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not offered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TalentHR is ahead today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plainly, so nobody is surprised in a demo.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420624" cy="42062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1866473"/>
            <a:ext cx="235549" cy="2355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719072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1993392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TalentHR ships iOS and Android apps. aniprotech is an installable web app - it works on a phone and offline for the basics, but there is no store listing.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15184"/>
            <a:ext cx="420624" cy="42062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77" y="2707721"/>
            <a:ext cx="235549" cy="2355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15568" y="2560320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15568" y="2834640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TalentHR signs contracts and documents in-product. aniprotech records that a policy was read and acknowledged; it does not collect a signature.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456432"/>
            <a:ext cx="420624" cy="42062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3548969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15568" y="3401568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reporting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15568" y="367588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Voice is a confidential whistleblowing channel. aniprotech's requests are attributed to the person who sent them.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297680"/>
            <a:ext cx="420624" cy="42062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77" y="4390217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15568" y="4242816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Geolocated time tracking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115568" y="4517136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TalentHR Premium stamps where somebody clocked in. aniprotech records the time, not the place.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138928"/>
            <a:ext cx="420624" cy="42062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177" y="5231465"/>
            <a:ext cx="235549" cy="23554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15568" y="5084064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track record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1115568" y="5358384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Epignosis has run TalentLMS for over a decade. aniprotech is newer and smaller - which is also why it moves faster.</a:t>
            </a:r>
            <a:endParaRPr lang="en-US" sz="115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first four is a bounded piece of work, not a rewrite. None of them is on the invoicing or payments side, where TalentHR has nothing.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Pricing, side by side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shapes: per seat against pay as you go.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41D2F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talenthr.io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$2 - $4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 per month, minimum 15 users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up to 10 users, core modules only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30-person business: $60 - $120 a month for HR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goals, surveys, time tracking, signing: Premium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Invoicing, payments and payroll: not offered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A2438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aniprotech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423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 free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card, then pay for what you send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7033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per-seat fee: every member of staff gets the portal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prepaid wallet is charged per action - an invoice sent, a payslip issued - after a free monthly allowance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and allowances are set by the operator, per action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and invoicing in the same price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aniprotech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534" y="228600"/>
            <a:ext cx="6400800" cy="6400800"/>
          </a:xfrm>
          <a:prstGeom prst="ellipse">
            <a:avLst/>
          </a:prstGeom>
          <a:solidFill>
            <a:srgbClr val="0284C7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188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login for the money and the people.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7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TalentHR is a good HR tool. aniprotech is the HR tool and the invoicing tool and the way you get paid - for a business that would rather not run three.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www.aniprotech.com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3949</Words>
  <Application>Microsoft Office PowerPoint</Application>
  <PresentationFormat>Widescreen</PresentationFormat>
  <Paragraphs>555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aniprotech - every function and tab, and TalentHR side by side</dc:title>
  <dc:subject>PptxGenJS Presentation</dc:subject>
  <dc:creator>aniprotech</dc:creator>
  <cp:lastModifiedBy>uday vardhan</cp:lastModifiedBy>
  <cp:revision>2</cp:revision>
  <dcterms:created xsi:type="dcterms:W3CDTF">2026-09-17T17:08:38Z</dcterms:created>
  <dcterms:modified xsi:type="dcterms:W3CDTF">2026-09-17T17:18:34Z</dcterms:modified>
</cp:coreProperties>
</file>